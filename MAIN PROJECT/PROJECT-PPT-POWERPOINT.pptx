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3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5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4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8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6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6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98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1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0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61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1918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93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3563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43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93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0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4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C3E9-9E4C-3402-0298-D47C799E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D036B-3FE9-BF47-52A8-529C986A3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932" y="609600"/>
            <a:ext cx="7957380" cy="1320800"/>
          </a:xfrm>
        </p:spPr>
        <p:txBody>
          <a:bodyPr>
            <a:noAutofit/>
          </a:bodyPr>
          <a:lstStyle/>
          <a:p>
            <a:pPr algn="ctr"/>
            <a:r>
              <a:rPr sz="8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Predictive Modeling for Loan Approval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B0C5C-3105-B51E-092C-61E90667A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105" y="2726646"/>
            <a:ext cx="8596668" cy="3880773"/>
          </a:xfrm>
        </p:spPr>
        <p:txBody>
          <a:bodyPr/>
          <a:lstStyle/>
          <a:p>
            <a:endParaRPr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77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932" y="609600"/>
            <a:ext cx="7957380" cy="13208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Predictive Modeling for Loan Approval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 Machine Learning Approach for Automating Loan Approval</a:t>
            </a:r>
          </a:p>
          <a:p>
            <a:r>
              <a:rPr dirty="0"/>
              <a:t>Presented by: Muhamm</a:t>
            </a:r>
            <a:r>
              <a:rPr lang="en-US" dirty="0"/>
              <a:t>e</a:t>
            </a:r>
            <a:r>
              <a:rPr dirty="0"/>
              <a:t>d Dilshad K </a:t>
            </a:r>
            <a:r>
              <a:rPr lang="en-US" dirty="0"/>
              <a:t>M</a:t>
            </a:r>
          </a:p>
          <a:p>
            <a:pPr lvl="4"/>
            <a:r>
              <a:rPr lang="en-US" dirty="0"/>
              <a:t>Course:MDAD24</a:t>
            </a:r>
          </a:p>
          <a:p>
            <a:pPr lvl="4"/>
            <a:r>
              <a:rPr lang="en-US" dirty="0"/>
              <a:t>Reg no:114728</a:t>
            </a:r>
          </a:p>
          <a:p>
            <a:r>
              <a:rPr lang="en-US" dirty="0"/>
              <a:t>Centre: G-tec Centre of Excellence ,</a:t>
            </a:r>
            <a:r>
              <a:rPr lang="en-US" dirty="0" err="1"/>
              <a:t>Perinthalmanna</a:t>
            </a:r>
            <a:endParaRPr lang="en-US" dirty="0"/>
          </a:p>
          <a:p>
            <a:r>
              <a:rPr lang="en-US" dirty="0"/>
              <a:t>Tools: Python, Pandas, Scikit-learn, Matplotlib, Seaborn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/>
              <a:t>Objective: Automate loan approval using predictive modeling.</a:t>
            </a:r>
            <a:endParaRPr lang="en-US" dirty="0"/>
          </a:p>
          <a:p>
            <a:r>
              <a:rPr lang="en-US" dirty="0"/>
              <a:t>Data </a:t>
            </a:r>
            <a:r>
              <a:rPr lang="en-US" dirty="0" err="1"/>
              <a:t>Set:Loan</a:t>
            </a:r>
            <a:r>
              <a:rPr lang="en-US" dirty="0"/>
              <a:t> Application data</a:t>
            </a:r>
            <a:endParaRPr dirty="0"/>
          </a:p>
          <a:p>
            <a:r>
              <a:rPr dirty="0"/>
              <a:t>Dataset: Includes applicant’s income, credit history, loan amount, and property </a:t>
            </a:r>
            <a:r>
              <a:rPr dirty="0" err="1"/>
              <a:t>details</a:t>
            </a:r>
            <a:r>
              <a:rPr lang="en-US" dirty="0" err="1"/>
              <a:t>,loan</a:t>
            </a:r>
            <a:r>
              <a:rPr lang="en-US" dirty="0"/>
              <a:t> status </a:t>
            </a:r>
            <a:r>
              <a:rPr lang="en-US" dirty="0" err="1"/>
              <a:t>etc</a:t>
            </a:r>
            <a:endParaRPr dirty="0"/>
          </a:p>
          <a:p>
            <a:r>
              <a:rPr dirty="0"/>
              <a:t>Approach: Data preprocessing, </a:t>
            </a:r>
            <a:r>
              <a:rPr dirty="0" err="1"/>
              <a:t>EDA,</a:t>
            </a:r>
            <a:r>
              <a:rPr lang="en-US" dirty="0" err="1"/>
              <a:t>Power</a:t>
            </a:r>
            <a:r>
              <a:rPr lang="en-US" dirty="0"/>
              <a:t>-Bi dashboard making</a:t>
            </a:r>
            <a:r>
              <a:rPr dirty="0"/>
              <a:t> feature engineering, and model </a:t>
            </a:r>
            <a:r>
              <a:rPr dirty="0" err="1"/>
              <a:t>training</a:t>
            </a:r>
            <a:r>
              <a:rPr lang="en-US" dirty="0" err="1"/>
              <a:t>,hyper</a:t>
            </a:r>
            <a:r>
              <a:rPr lang="en-US" dirty="0"/>
              <a:t>- tuning</a:t>
            </a:r>
            <a:endParaRPr dirty="0"/>
          </a:p>
          <a:p>
            <a:r>
              <a:rPr dirty="0"/>
              <a:t>Models used: Random Forest &amp; </a:t>
            </a:r>
            <a:r>
              <a:rPr dirty="0" err="1"/>
              <a:t>XGBoost</a:t>
            </a:r>
            <a:r>
              <a:rPr dirty="0"/>
              <a:t>.</a:t>
            </a:r>
          </a:p>
          <a:p>
            <a:r>
              <a:rPr dirty="0"/>
              <a:t>Outcome: Reliable and accurate prediction system to aid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Loan approval is a vital process in financial institutions.</a:t>
            </a:r>
          </a:p>
          <a:p>
            <a:r>
              <a:rPr dirty="0"/>
              <a:t>Manual assessment causes delays, bias, and inefficiency.</a:t>
            </a:r>
          </a:p>
          <a:p>
            <a:r>
              <a:rPr dirty="0"/>
              <a:t>Machine Learning provides an automated, consistent, and data-driven solution.</a:t>
            </a:r>
          </a:p>
          <a:p>
            <a:r>
              <a:rPr dirty="0"/>
              <a:t>This project applies ML to predict loan approval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dirty="0"/>
              <a:t>1. Data Collection</a:t>
            </a:r>
          </a:p>
          <a:p>
            <a:r>
              <a:rPr dirty="0"/>
              <a:t>2. Data Cleaning &amp; Preprocessing</a:t>
            </a:r>
          </a:p>
          <a:p>
            <a:r>
              <a:rPr dirty="0"/>
              <a:t>3. Exploratory Data Analysis (EDA)</a:t>
            </a:r>
            <a:endParaRPr lang="en-US" dirty="0"/>
          </a:p>
          <a:p>
            <a:r>
              <a:rPr lang="en-US" dirty="0"/>
              <a:t>4.Power-BI Dashboard Making</a:t>
            </a:r>
            <a:endParaRPr dirty="0"/>
          </a:p>
          <a:p>
            <a:r>
              <a:rPr lang="en-US" dirty="0"/>
              <a:t>5</a:t>
            </a:r>
            <a:r>
              <a:rPr dirty="0"/>
              <a:t>. Feature Engineering</a:t>
            </a:r>
          </a:p>
          <a:p>
            <a:r>
              <a:rPr lang="en-US" dirty="0"/>
              <a:t>6</a:t>
            </a:r>
            <a:r>
              <a:rPr dirty="0"/>
              <a:t>. Model Building</a:t>
            </a:r>
          </a:p>
          <a:p>
            <a:r>
              <a:rPr lang="en-US" dirty="0"/>
              <a:t>7</a:t>
            </a:r>
            <a:r>
              <a:rPr dirty="0"/>
              <a:t>. Model Evaluation &amp; Comparison</a:t>
            </a:r>
            <a:endParaRPr lang="en-US" dirty="0"/>
          </a:p>
          <a:p>
            <a:r>
              <a:rPr lang="en-US" dirty="0"/>
              <a:t>8.Hyper Tuning</a:t>
            </a:r>
          </a:p>
          <a:p>
            <a:r>
              <a:rPr lang="en-US" dirty="0"/>
              <a:t>9.Prediction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Cleaning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• Handled missing values using median/mode imputation.</a:t>
            </a:r>
          </a:p>
          <a:p>
            <a:r>
              <a:rPr dirty="0"/>
              <a:t>• Encoded categorical variables using Label Encoding.</a:t>
            </a:r>
          </a:p>
          <a:p>
            <a:r>
              <a:rPr dirty="0"/>
              <a:t>• Outliers detected and </a:t>
            </a:r>
            <a:r>
              <a:rPr lang="en-US" dirty="0"/>
              <a:t>handling for </a:t>
            </a:r>
            <a:r>
              <a:rPr dirty="0"/>
              <a:t>capped for numeric features.</a:t>
            </a:r>
          </a:p>
          <a:p>
            <a:r>
              <a:rPr dirty="0"/>
              <a:t>•</a:t>
            </a:r>
            <a:r>
              <a:rPr lang="en-US" dirty="0"/>
              <a:t>Remove unwanted columns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• Correlation Heatmap revealed relationships between income, credit history, and approval.</a:t>
            </a:r>
          </a:p>
          <a:p>
            <a:r>
              <a:t>• Boxplots &amp; Histograms used to detect distribution &amp; skewness.</a:t>
            </a:r>
          </a:p>
          <a:p>
            <a:r>
              <a:t>• Income vs Loan Status shows higher income increases approval likelihood.</a:t>
            </a:r>
          </a:p>
          <a:p>
            <a:r>
              <a:t>• Credit History is a strong predictor for loan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• Derived new features to enhance model learning.</a:t>
            </a:r>
          </a:p>
          <a:p>
            <a:r>
              <a:rPr dirty="0"/>
              <a:t>• Removed redundant or less significant variables.</a:t>
            </a:r>
          </a:p>
          <a:p>
            <a:r>
              <a:rPr dirty="0"/>
              <a:t>• Ensured data was balanced and consistent for model input.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Algorithms used:</a:t>
            </a:r>
          </a:p>
          <a:p>
            <a:r>
              <a:rPr dirty="0"/>
              <a:t>• Random Forest Classifier</a:t>
            </a:r>
          </a:p>
          <a:p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 Classifier</a:t>
            </a:r>
          </a:p>
          <a:p>
            <a:r>
              <a:rPr dirty="0"/>
              <a:t>Dataset Split: 80% training, 20% testing</a:t>
            </a:r>
          </a:p>
          <a:p>
            <a:r>
              <a:rPr dirty="0"/>
              <a:t>Used </a:t>
            </a:r>
            <a:r>
              <a:rPr dirty="0" err="1"/>
              <a:t>train_test_split</a:t>
            </a:r>
            <a:r>
              <a:rPr dirty="0"/>
              <a:t> from Scikit-learn.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/>
              <a:t>Model | Accuracy | ROC-AUC | Comments</a:t>
            </a:r>
          </a:p>
          <a:p>
            <a:r>
              <a:rPr dirty="0"/>
              <a:t>Random Forest | ~0.</a:t>
            </a:r>
            <a:r>
              <a:rPr lang="en-US" dirty="0"/>
              <a:t>69</a:t>
            </a:r>
            <a:r>
              <a:rPr dirty="0"/>
              <a:t> | High | Robust and less overfitting</a:t>
            </a:r>
          </a:p>
          <a:p>
            <a:r>
              <a:rPr dirty="0" err="1"/>
              <a:t>XGBoost</a:t>
            </a:r>
            <a:r>
              <a:rPr dirty="0"/>
              <a:t> | ~0.</a:t>
            </a:r>
            <a:r>
              <a:rPr lang="en-US" dirty="0"/>
              <a:t>62</a:t>
            </a:r>
            <a:r>
              <a:rPr dirty="0"/>
              <a:t> | Excellent | Best performance overall</a:t>
            </a:r>
          </a:p>
          <a:p>
            <a:endParaRPr dirty="0"/>
          </a:p>
          <a:p>
            <a:r>
              <a:rPr dirty="0"/>
              <a:t>Plotted ROC Curve to compare models.</a:t>
            </a:r>
          </a:p>
          <a:p>
            <a:r>
              <a:rPr lang="en-US" dirty="0"/>
              <a:t>Random Forest </a:t>
            </a:r>
            <a:r>
              <a:rPr dirty="0"/>
              <a:t> slightly outperformed </a:t>
            </a:r>
            <a:r>
              <a:rPr lang="en-US" dirty="0" err="1"/>
              <a:t>XGBoost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• Optimized </a:t>
            </a:r>
            <a:r>
              <a:rPr lang="en-US" dirty="0" err="1"/>
              <a:t>RandomForest</a:t>
            </a:r>
            <a:r>
              <a:rPr lang="en-US" dirty="0"/>
              <a:t> </a:t>
            </a:r>
            <a:r>
              <a:rPr dirty="0"/>
              <a:t>parameters using </a:t>
            </a:r>
            <a:r>
              <a:rPr dirty="0" err="1"/>
              <a:t>RandomizedSearchCV</a:t>
            </a:r>
            <a:r>
              <a:rPr dirty="0"/>
              <a:t>.</a:t>
            </a:r>
          </a:p>
          <a:p>
            <a:r>
              <a:rPr dirty="0"/>
              <a:t>• Tuned parameters: </a:t>
            </a:r>
            <a:r>
              <a:rPr dirty="0" err="1"/>
              <a:t>max_depth</a:t>
            </a:r>
            <a:r>
              <a:rPr dirty="0"/>
              <a:t>, </a:t>
            </a:r>
            <a:r>
              <a:rPr dirty="0" err="1"/>
              <a:t>learning_rate</a:t>
            </a:r>
            <a:r>
              <a:rPr dirty="0"/>
              <a:t>, </a:t>
            </a:r>
            <a:r>
              <a:rPr dirty="0" err="1"/>
              <a:t>n_estimators</a:t>
            </a:r>
            <a:r>
              <a:rPr dirty="0"/>
              <a:t>, </a:t>
            </a:r>
            <a:r>
              <a:rPr dirty="0" err="1"/>
              <a:t>reg_lambda</a:t>
            </a:r>
            <a:r>
              <a:rPr dirty="0"/>
              <a:t>, and subsample.</a:t>
            </a:r>
          </a:p>
          <a:p>
            <a:r>
              <a:rPr dirty="0"/>
              <a:t>• Improved overall model accuracy and generalization.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Credit history and applicant income are most influential.</a:t>
            </a:r>
          </a:p>
          <a:p>
            <a:r>
              <a:t>• Property area and education had moderate impact.</a:t>
            </a:r>
          </a:p>
          <a:p>
            <a:r>
              <a:t>• Employment type showed minimal effect.</a:t>
            </a:r>
          </a:p>
          <a:p>
            <a:r>
              <a:t>• The model can assist loan officers with data-backed recommendations.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• ML-based loan approval prediction enhances accuracy and consistency.</a:t>
            </a:r>
          </a:p>
          <a:p>
            <a:r>
              <a:rPr dirty="0"/>
              <a:t>• </a:t>
            </a:r>
            <a:r>
              <a:rPr lang="en-US" dirty="0"/>
              <a:t>Random Forest </a:t>
            </a:r>
            <a:r>
              <a:rPr dirty="0"/>
              <a:t>achieved the best performance.</a:t>
            </a:r>
          </a:p>
          <a:p>
            <a:r>
              <a:rPr dirty="0"/>
              <a:t>• Helps financial institutions reduce risk and improve decision time.</a:t>
            </a:r>
          </a:p>
          <a:p>
            <a:r>
              <a:rPr dirty="0"/>
              <a:t>• Future work: Deploy the model using Flask or </a:t>
            </a:r>
            <a:r>
              <a:rPr dirty="0" err="1"/>
              <a:t>Streamlit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• Python Libraries: Pandas, NumPy, Scikit-</a:t>
            </a:r>
            <a:r>
              <a:rPr dirty="0" err="1"/>
              <a:t>learn,</a:t>
            </a:r>
            <a:r>
              <a:rPr lang="en-US" dirty="0" err="1"/>
              <a:t>RandomForest</a:t>
            </a:r>
            <a:r>
              <a:rPr dirty="0"/>
              <a:t> </a:t>
            </a:r>
            <a:r>
              <a:rPr lang="en-US" dirty="0"/>
              <a:t>,</a:t>
            </a:r>
            <a:r>
              <a:rPr dirty="0" err="1"/>
              <a:t>XGBoost</a:t>
            </a:r>
            <a:r>
              <a:rPr dirty="0"/>
              <a:t>, </a:t>
            </a:r>
            <a:r>
              <a:rPr lang="en-IN" dirty="0" err="1"/>
              <a:t>RandomizedSearchCV</a:t>
            </a:r>
            <a:r>
              <a:rPr lang="en-IN" dirty="0"/>
              <a:t>,</a:t>
            </a:r>
            <a:r>
              <a:rPr dirty="0"/>
              <a:t>Seaborn, Matplotlib</a:t>
            </a:r>
            <a:r>
              <a:rPr lang="en-US" dirty="0"/>
              <a:t>,</a:t>
            </a:r>
            <a:endParaRPr dirty="0"/>
          </a:p>
          <a:p>
            <a:r>
              <a:rPr dirty="0"/>
              <a:t>• IDE: </a:t>
            </a:r>
            <a:r>
              <a:rPr dirty="0" err="1"/>
              <a:t>Jupyter</a:t>
            </a:r>
            <a:r>
              <a:rPr dirty="0"/>
              <a:t> Notebook</a:t>
            </a:r>
          </a:p>
          <a:p>
            <a:r>
              <a:rPr dirty="0"/>
              <a:t>• Visualization Tools: Matplotlib, Seaborn</a:t>
            </a:r>
          </a:p>
          <a:p>
            <a:r>
              <a:rPr dirty="0"/>
              <a:t>• Deployment Framework: Flask / </a:t>
            </a:r>
            <a:r>
              <a:rPr dirty="0" err="1"/>
              <a:t>Streamlit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References &amp; 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• Dataset: Loan Prediction Dataset (Kaggle/UCI)</a:t>
            </a:r>
          </a:p>
          <a:p>
            <a:r>
              <a:rPr dirty="0"/>
              <a:t>• Scikit-learn Documentation</a:t>
            </a:r>
          </a:p>
          <a:p>
            <a:r>
              <a:rPr dirty="0"/>
              <a:t>• </a:t>
            </a:r>
            <a:r>
              <a:rPr lang="en-US" dirty="0"/>
              <a:t>Random Forest </a:t>
            </a:r>
            <a:r>
              <a:rPr dirty="0"/>
              <a:t>Official Documentation</a:t>
            </a:r>
          </a:p>
          <a:p>
            <a:r>
              <a:rPr dirty="0"/>
              <a:t>• Mentors / Instructors / Guides for project </a:t>
            </a:r>
            <a:r>
              <a:rPr dirty="0" err="1"/>
              <a:t>support</a:t>
            </a:r>
            <a:r>
              <a:rPr lang="en-US" dirty="0" err="1"/>
              <a:t>:Swathi</a:t>
            </a:r>
            <a:r>
              <a:rPr lang="en-US" dirty="0"/>
              <a:t> Ma’am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04E9-1FF5-1CE1-BBDA-E95658F49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0D78-F3AA-9D64-BC4E-E9B5CB52E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288" y="2709854"/>
            <a:ext cx="8596668" cy="1320800"/>
          </a:xfrm>
        </p:spPr>
        <p:txBody>
          <a:bodyPr>
            <a:noAutofit/>
          </a:bodyPr>
          <a:lstStyle/>
          <a:p>
            <a:pPr algn="ctr"/>
            <a:r>
              <a:rPr lang="en-US" sz="8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  <a:endParaRPr sz="8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2BD27-1CC1-2F51-D553-018A1C3897F7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677334" y="1883230"/>
            <a:ext cx="8118324" cy="27736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84240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391</TotalTime>
  <Words>612</Words>
  <Application>Microsoft Office PowerPoint</Application>
  <PresentationFormat>Widescreen</PresentationFormat>
  <Paragraphs>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ADLaM Display</vt:lpstr>
      <vt:lpstr>Arial</vt:lpstr>
      <vt:lpstr>Corbel</vt:lpstr>
      <vt:lpstr>Wingdings 3</vt:lpstr>
      <vt:lpstr>Facet</vt:lpstr>
      <vt:lpstr>Predictive Modeling for Loan Approval Decisions</vt:lpstr>
      <vt:lpstr>Predictive Modeling for Loan Approval Decisions</vt:lpstr>
      <vt:lpstr>Abstract</vt:lpstr>
      <vt:lpstr>Introduction</vt:lpstr>
      <vt:lpstr>Project Workflow</vt:lpstr>
      <vt:lpstr>Data Cleaning and Preprocessing</vt:lpstr>
      <vt:lpstr>Exploratory Data Analysis (EDA)</vt:lpstr>
      <vt:lpstr>Feature Engineering</vt:lpstr>
      <vt:lpstr>Model Building</vt:lpstr>
      <vt:lpstr>Model Evaluation</vt:lpstr>
      <vt:lpstr>Hyperparameter Tuning</vt:lpstr>
      <vt:lpstr>Model Insights</vt:lpstr>
      <vt:lpstr>Conclusion</vt:lpstr>
      <vt:lpstr>Technologies Used</vt:lpstr>
      <vt:lpstr>References &amp; Acknowledgements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MUHAMMED DILSHAD KM</cp:lastModifiedBy>
  <cp:revision>8</cp:revision>
  <dcterms:created xsi:type="dcterms:W3CDTF">2013-01-27T09:14:16Z</dcterms:created>
  <dcterms:modified xsi:type="dcterms:W3CDTF">2025-10-22T07:13:47Z</dcterms:modified>
  <cp:category/>
</cp:coreProperties>
</file>